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2185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idea in one breath: we use graph algorithms to decide where fire stations should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91440" cy="10287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" y="1028700"/>
            <a:ext cx="91440" cy="102870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2057400"/>
            <a:ext cx="91440" cy="102870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3086100"/>
            <a:ext cx="91440" cy="1028700"/>
          </a:xfrm>
          <a:prstGeom prst="rect">
            <a:avLst/>
          </a:prstGeom>
          <a:solidFill>
            <a:srgbClr val="4EA8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4114800"/>
            <a:ext cx="91440" cy="1028700"/>
          </a:xfrm>
          <a:prstGeom prst="rect">
            <a:avLst/>
          </a:prstGeom>
          <a:solidFill>
            <a:srgbClr val="A06CD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79965" y="3728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B703"/>
                </a:solidFill>
              </a:rPr>
              <a:t>DAA  •  GREEDY  •  DIJKSTRA  •  GRAPH OPTIMIZATION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88696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🔥 FIREOPT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920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8C2DD"/>
                </a:solidFill>
              </a:rPr>
              <a:t>Intelligent Fire Station Placement &amp; Emergency Coverage Optimization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7680960" cy="640080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914400" y="2560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One-line idea: Place stations where they cover the most neighborhoods within the target response time.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15234A"/>
          </a:solidFill>
          <a:ln w="12700">
            <a:solidFill>
              <a:srgbClr val="4EA8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68680" y="3383280"/>
            <a:ext cx="3383280" cy="73152"/>
          </a:xfrm>
          <a:prstGeom prst="rect">
            <a:avLst/>
          </a:prstGeom>
          <a:solidFill>
            <a:srgbClr val="4EA8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1922360" y="3405625"/>
            <a:ext cx="3383280" cy="233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A8DE"/>
                </a:solidFill>
              </a:rPr>
              <a:t>Team Members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347472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15234A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09160" y="3474720"/>
            <a:ext cx="3566160" cy="4572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709160" y="3584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Problem Domain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3886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Emergency response  •  Smart-city planning  •  Graph algorithms (DAA)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703"/>
                </a:solidFill>
              </a:rPr>
              <a:t>Place Smarter. Respond Faster. Save More.</a:t>
            </a:r>
            <a:endParaRPr 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A2D5AB-8498-D201-6762-DB34992E4417}"/>
              </a:ext>
            </a:extLst>
          </p:cNvPr>
          <p:cNvSpPr txBox="1"/>
          <p:nvPr/>
        </p:nvSpPr>
        <p:spPr>
          <a:xfrm>
            <a:off x="1552966" y="3584448"/>
            <a:ext cx="24921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chemeClr val="bg1"/>
                </a:solidFill>
                <a:latin typeface="Century" panose="02040604050505020304" pitchFamily="18" charset="0"/>
              </a:rPr>
              <a:t>M.Navya sree 25MVCSMR0328</a:t>
            </a:r>
          </a:p>
          <a:p>
            <a:r>
              <a:rPr lang="en-IN" sz="1100" b="1" dirty="0">
                <a:solidFill>
                  <a:schemeClr val="bg1"/>
                </a:solidFill>
                <a:latin typeface="Century" panose="02040604050505020304" pitchFamily="18" charset="0"/>
              </a:rPr>
              <a:t>M.Jalada 25MVCSMR0327</a:t>
            </a:r>
          </a:p>
          <a:p>
            <a:r>
              <a:rPr lang="en-IN" sz="1100" b="1" dirty="0">
                <a:solidFill>
                  <a:schemeClr val="bg1"/>
                </a:solidFill>
                <a:latin typeface="Century" panose="02040604050505020304" pitchFamily="18" charset="0"/>
              </a:rPr>
              <a:t>T.Sree nidhi 25MVCSR0360</a:t>
            </a:r>
          </a:p>
          <a:p>
            <a:r>
              <a:rPr lang="en-IN" sz="1100" b="1" dirty="0">
                <a:solidFill>
                  <a:schemeClr val="bg1"/>
                </a:solidFill>
                <a:latin typeface="Century" panose="02040604050505020304" pitchFamily="18" charset="0"/>
              </a:rPr>
              <a:t>P.Akshara 25MVCSMR0338</a:t>
            </a:r>
          </a:p>
          <a:p>
            <a:r>
              <a:rPr lang="en-IN" sz="1100" b="1" dirty="0">
                <a:solidFill>
                  <a:schemeClr val="bg1"/>
                </a:solidFill>
                <a:latin typeface="Century" panose="02040604050505020304" pitchFamily="18" charset="0"/>
              </a:rPr>
              <a:t>S.Soumya 25MVCSMR0351</a:t>
            </a:r>
          </a:p>
          <a:p>
            <a:endParaRPr lang="en-IN" sz="1100" b="1" dirty="0">
              <a:solidFill>
                <a:schemeClr val="bg1"/>
              </a:solidFill>
              <a:latin typeface="Century" panose="02040604050505020304" pitchFamily="18" charset="0"/>
            </a:endParaRPr>
          </a:p>
          <a:p>
            <a:endParaRPr lang="en-IN" dirty="0">
              <a:solidFill>
                <a:schemeClr val="bg1"/>
              </a:solidFill>
              <a:latin typeface="Century" panose="020406040505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530"/>
                </a:solidFill>
              </a:rPr>
              <a:t>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28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Challenge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5234A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2423160" cy="457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02920" y="1024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</a:rPr>
              <a:t>🚨 Real-world problem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325880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Cities must choose a limited number of fire-station sites. If a neighborhood cannot be reached within the target response time (for example 8 minutes), fires grow and rescue chances fall.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Today many sites are picked by intuition, not by measured road travel time.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5234A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337560" y="914400"/>
            <a:ext cx="2423160" cy="457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337560" y="1024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</a:rPr>
              <a:t>❤️ Why it matters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337560" y="1325880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Faster arrival means less property damage and more lives saved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Stations are expensive, so every site must count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Cities keep growing, so old placements leave new gaps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Planners need evidence they can explain to the public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2743200" cy="3291840"/>
          </a:xfrm>
          <a:prstGeom prst="roundRect">
            <a:avLst>
              <a:gd name="adj" fmla="val 2667"/>
            </a:avLst>
          </a:prstGeom>
          <a:solidFill>
            <a:srgbClr val="15234A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172200" y="914400"/>
            <a:ext cx="2468880" cy="4572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17220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🧩 Key challenges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32588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Distance on a map is not travel time; roads decide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Coverage must be computed for every candidate site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Best choice of k stations is NP-hard (too many combinations)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Some areas may be disconnected or have bad data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Decisions must be explainable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38912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Problem statement: select fire-station locations to maximize neighborhoods reachable within a target response time.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502920" cy="502920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530"/>
                </a:solidFill>
              </a:rPr>
              <a:t>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28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Our Innovation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5234A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</a:rPr>
              <a:t>Core idea: model the city as a weighted graph, use Dijkstra for true travel times, then let Greedy pick each station by its maximum NEW coverage.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2697480" cy="841248"/>
          </a:xfrm>
          <a:prstGeom prst="roundRect">
            <a:avLst>
              <a:gd name="adj" fmla="val 8696"/>
            </a:avLst>
          </a:prstGeom>
          <a:solidFill>
            <a:srgbClr val="15234A"/>
          </a:solidFill>
          <a:ln w="12700">
            <a:solidFill>
              <a:srgbClr val="4EA8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2423160" cy="45720"/>
          </a:xfrm>
          <a:prstGeom prst="rect">
            <a:avLst/>
          </a:prstGeom>
          <a:solidFill>
            <a:srgbClr val="4EA8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02920" y="1938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A8DE"/>
                </a:solidFill>
              </a:rPr>
              <a:t>🗺️ Interactive Map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2402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Stations, covered (blue), uncovered (red), roads, green route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828800"/>
            <a:ext cx="2697480" cy="841248"/>
          </a:xfrm>
          <a:prstGeom prst="roundRect">
            <a:avLst>
              <a:gd name="adj" fmla="val 8696"/>
            </a:avLst>
          </a:prstGeom>
          <a:solidFill>
            <a:srgbClr val="15234A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337560" y="1828800"/>
            <a:ext cx="2423160" cy="4572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337560" y="1938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</a:rPr>
              <a:t>📊 Live KPI Dashboard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22402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Coverage %, avg response, gaps; updates instantly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828800"/>
            <a:ext cx="2697480" cy="841248"/>
          </a:xfrm>
          <a:prstGeom prst="roundRect">
            <a:avLst>
              <a:gd name="adj" fmla="val 8696"/>
            </a:avLst>
          </a:prstGeom>
          <a:solidFill>
            <a:srgbClr val="15234A"/>
          </a:solidFill>
          <a:ln w="12700">
            <a:solidFill>
              <a:srgbClr val="A06C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172200" y="1828800"/>
            <a:ext cx="2423160" cy="45720"/>
          </a:xfrm>
          <a:prstGeom prst="rect">
            <a:avLst/>
          </a:prstGeom>
          <a:solidFill>
            <a:srgbClr val="A06CD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172200" y="1938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6CD5"/>
                </a:solidFill>
              </a:rPr>
              <a:t>🧠 Explain My Decision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2402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Plain-language reason for every station chosen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2697480" cy="841248"/>
          </a:xfrm>
          <a:prstGeom prst="roundRect">
            <a:avLst>
              <a:gd name="adj" fmla="val 8696"/>
            </a:avLst>
          </a:prstGeom>
          <a:solidFill>
            <a:srgbClr val="15234A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2920" y="2743200"/>
            <a:ext cx="2423160" cy="4572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502920" y="28529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🚒 Route Explorer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31546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Station → destination with Dijkstra step-by-step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743200"/>
            <a:ext cx="2697480" cy="841248"/>
          </a:xfrm>
          <a:prstGeom prst="roundRect">
            <a:avLst>
              <a:gd name="adj" fmla="val 8696"/>
            </a:avLst>
          </a:prstGeom>
          <a:solidFill>
            <a:srgbClr val="15234A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337560" y="2743200"/>
            <a:ext cx="2423160" cy="457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3337560" y="28529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</a:rPr>
              <a:t>🔮 What-If Simulator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337560" y="31546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Stations vs coverage and time vs coverage charts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2743200"/>
            <a:ext cx="2697480" cy="841248"/>
          </a:xfrm>
          <a:prstGeom prst="roundRect">
            <a:avLst>
              <a:gd name="adj" fmla="val 8696"/>
            </a:avLst>
          </a:prstGeom>
          <a:solidFill>
            <a:srgbClr val="15234A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172200" y="2743200"/>
            <a:ext cx="2423160" cy="457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6172200" y="28529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</a:rPr>
              <a:t>⚠️ Coverage Gaps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31546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Lists uncovered areas and suggests the best fix site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657600"/>
            <a:ext cx="2697480" cy="841248"/>
          </a:xfrm>
          <a:prstGeom prst="roundRect">
            <a:avLst>
              <a:gd name="adj" fmla="val 8696"/>
            </a:avLst>
          </a:prstGeom>
          <a:solidFill>
            <a:srgbClr val="15234A"/>
          </a:solidFill>
          <a:ln w="12700">
            <a:solidFill>
              <a:srgbClr val="4EA8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02920" y="3657600"/>
            <a:ext cx="2423160" cy="45720"/>
          </a:xfrm>
          <a:prstGeom prst="rect">
            <a:avLst/>
          </a:prstGeom>
          <a:solidFill>
            <a:srgbClr val="4EA8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502920" y="3767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A8DE"/>
                </a:solidFill>
              </a:rPr>
              <a:t>📈 Before vs After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40690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Impact comparison from real computed values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0" y="3657600"/>
            <a:ext cx="2697480" cy="841248"/>
          </a:xfrm>
          <a:prstGeom prst="roundRect">
            <a:avLst>
              <a:gd name="adj" fmla="val 8696"/>
            </a:avLst>
          </a:prstGeom>
          <a:solidFill>
            <a:srgbClr val="15234A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337560" y="3657600"/>
            <a:ext cx="2423160" cy="4572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3337560" y="3767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</a:rPr>
              <a:t>🎬 Demo &amp; 🎤 Presentation Mode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3337560" y="40690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One-click run, clean view for judges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35040" y="3657600"/>
            <a:ext cx="2697480" cy="841248"/>
          </a:xfrm>
          <a:prstGeom prst="roundRect">
            <a:avLst>
              <a:gd name="adj" fmla="val 8696"/>
            </a:avLst>
          </a:prstGeom>
          <a:solidFill>
            <a:srgbClr val="15234A"/>
          </a:solidFill>
          <a:ln w="12700">
            <a:solidFill>
              <a:srgbClr val="A06C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172200" y="3657600"/>
            <a:ext cx="2423160" cy="45720"/>
          </a:xfrm>
          <a:prstGeom prst="rect">
            <a:avLst/>
          </a:prstGeom>
          <a:solidFill>
            <a:srgbClr val="A06CD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6172200" y="3767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6CD5"/>
                </a:solidFill>
              </a:rPr>
              <a:t>📁 CSV Upload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172200" y="40690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Use your own city data with validation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C2DD"/>
                </a:solidFill>
              </a:rPr>
              <a:t>Unique approach: nothing is hardcoded. Stations, paths and coverage are calculated live, and every decision is transparent.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530"/>
                </a:solidFill>
              </a:rPr>
              <a:t>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28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It Works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4EA8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530"/>
                </a:solidFill>
              </a:rPr>
              <a:t>INPUT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530"/>
                </a:solidFill>
              </a:rPr>
              <a:t>City CSV or demo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530"/>
                </a:solidFill>
              </a:rPr>
              <a:t>Stations k, target time 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1463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14600" y="9144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52B7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2606040" y="1005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530"/>
                </a:solidFill>
              </a:rPr>
              <a:t>PROCESSING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14173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530"/>
                </a:solidFill>
              </a:rPr>
              <a:t>Build weighted graph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530"/>
                </a:solidFill>
              </a:rPr>
              <a:t>Nodes = areas, edges = minutes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1463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754880" y="1005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530"/>
                </a:solidFill>
              </a:rPr>
              <a:t>ALGORITHM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4173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530"/>
                </a:solidFill>
              </a:rPr>
              <a:t>Dijkstra → coverage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530"/>
                </a:solidFill>
              </a:rPr>
              <a:t>Greedy → best station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1463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12280" y="9144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FB7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903720" y="1005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530"/>
                </a:solidFill>
              </a:rPr>
              <a:t>OUTPUT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14173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530"/>
                </a:solidFill>
              </a:rPr>
              <a:t>Stations, map, KPIs,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530"/>
                </a:solidFill>
              </a:rPr>
              <a:t>gaps, before/after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</a:rPr>
              <a:t>User journey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" y="3017520"/>
            <a:ext cx="5120640" cy="329184"/>
          </a:xfrm>
          <a:prstGeom prst="roundRect">
            <a:avLst>
              <a:gd name="adj" fmla="val 16667"/>
            </a:avLst>
          </a:prstGeom>
          <a:solidFill>
            <a:srgbClr val="15234A"/>
          </a:solidFill>
          <a:ln w="12700">
            <a:solidFill>
              <a:srgbClr val="4EA8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502920" y="30175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1  Choose dataset, stations (1–5), target time (3–15 min)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5120640" cy="329184"/>
          </a:xfrm>
          <a:prstGeom prst="roundRect">
            <a:avLst>
              <a:gd name="adj" fmla="val 16667"/>
            </a:avLst>
          </a:prstGeom>
          <a:solidFill>
            <a:srgbClr val="15234A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502920" y="34015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2  Click Optimize or Run Demo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785616"/>
            <a:ext cx="5120640" cy="329184"/>
          </a:xfrm>
          <a:prstGeom prst="roundRect">
            <a:avLst>
              <a:gd name="adj" fmla="val 16667"/>
            </a:avLst>
          </a:prstGeom>
          <a:solidFill>
            <a:srgbClr val="15234A"/>
          </a:solidFill>
          <a:ln w="12700">
            <a:solidFill>
              <a:srgbClr val="A06C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502920" y="378561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3  Read the Greedy table and click Explain My Decision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69664"/>
            <a:ext cx="5120640" cy="329184"/>
          </a:xfrm>
          <a:prstGeom prst="roundRect">
            <a:avLst>
              <a:gd name="adj" fmla="val 16667"/>
            </a:avLst>
          </a:prstGeom>
          <a:solidFill>
            <a:srgbClr val="15234A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502920" y="416966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4  Explore routes and coverage gaps on the map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553712"/>
            <a:ext cx="5120640" cy="329184"/>
          </a:xfrm>
          <a:prstGeom prst="roundRect">
            <a:avLst>
              <a:gd name="adj" fmla="val 16667"/>
            </a:avLst>
          </a:prstGeom>
          <a:solidFill>
            <a:srgbClr val="15234A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502920" y="45537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5  Compare what-if scenarios and before/after impact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60720" y="2743200"/>
            <a:ext cx="3017520" cy="2148840"/>
          </a:xfrm>
          <a:prstGeom prst="roundRect">
            <a:avLst>
              <a:gd name="adj" fmla="val 3404"/>
            </a:avLst>
          </a:prstGeom>
          <a:solidFill>
            <a:srgbClr val="15234A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897880" y="2743200"/>
            <a:ext cx="2743200" cy="4572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589788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Coverage rule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897880" y="3154680"/>
            <a:ext cx="2743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A neighborhood is covered when its minimum travel time from any station ≤ T.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Coverage % = covered ÷ total × 100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Errors (bad CSV, no path, disconnected areas) show friendly messages.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8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502920" cy="502920"/>
          </a:xfrm>
          <a:prstGeom prst="ellipse">
            <a:avLst/>
          </a:prstGeom>
          <a:solidFill>
            <a:srgbClr val="4EA8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530"/>
                </a:solidFill>
              </a:rPr>
              <a:t>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28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Technology &amp; Algorithms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325880" cy="411480"/>
          </a:xfrm>
          <a:prstGeom prst="roundRect">
            <a:avLst>
              <a:gd name="adj" fmla="val 44444"/>
            </a:avLst>
          </a:prstGeom>
          <a:solidFill>
            <a:srgbClr val="4EA8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65760" y="9144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530"/>
                </a:solidFill>
              </a:rPr>
              <a:t>Python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914400"/>
            <a:ext cx="1325880" cy="411480"/>
          </a:xfrm>
          <a:prstGeom prst="roundRect">
            <a:avLst>
              <a:gd name="adj" fmla="val 44444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783080" y="9144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530"/>
                </a:solidFill>
              </a:rPr>
              <a:t>Streamlit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1325880" cy="411480"/>
          </a:xfrm>
          <a:prstGeom prst="roundRect">
            <a:avLst>
              <a:gd name="adj" fmla="val 44444"/>
            </a:avLst>
          </a:prstGeom>
          <a:solidFill>
            <a:srgbClr val="52B7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200400" y="9144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530"/>
                </a:solidFill>
              </a:rPr>
              <a:t>NetworkX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914400"/>
            <a:ext cx="1325880" cy="411480"/>
          </a:xfrm>
          <a:prstGeom prst="roundRect">
            <a:avLst>
              <a:gd name="adj" fmla="val 44444"/>
            </a:avLst>
          </a:prstGeom>
          <a:solidFill>
            <a:srgbClr val="FFB7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617720" y="9144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530"/>
                </a:solidFill>
              </a:rPr>
              <a:t>Folium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1325880" cy="411480"/>
          </a:xfrm>
          <a:prstGeom prst="roundRect">
            <a:avLst>
              <a:gd name="adj" fmla="val 44444"/>
            </a:avLst>
          </a:prstGeom>
          <a:solidFill>
            <a:srgbClr val="A06CD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035040" y="9144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530"/>
                </a:solidFill>
              </a:rPr>
              <a:t>Plotly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52360" y="914400"/>
            <a:ext cx="1325880" cy="411480"/>
          </a:xfrm>
          <a:prstGeom prst="roundRect">
            <a:avLst>
              <a:gd name="adj" fmla="val 44444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452360" y="9144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530"/>
                </a:solidFill>
              </a:rPr>
              <a:t>Pandas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508760"/>
            <a:ext cx="2743200" cy="2834640"/>
          </a:xfrm>
          <a:prstGeom prst="roundRect">
            <a:avLst>
              <a:gd name="adj" fmla="val 2667"/>
            </a:avLst>
          </a:prstGeom>
          <a:solidFill>
            <a:srgbClr val="15234A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02920" y="1508760"/>
            <a:ext cx="2468880" cy="4572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02920" y="1618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</a:rPr>
              <a:t>Graph representation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192024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Neighborhoods = nodes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Roads = weighted edges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Weight = travel time (min)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Adjacency list storage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Why: roads map naturally to graphs, and shortest paths follow travel time, not straight-line distance.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1508760"/>
            <a:ext cx="2743200" cy="2834640"/>
          </a:xfrm>
          <a:prstGeom prst="roundRect">
            <a:avLst>
              <a:gd name="adj" fmla="val 2667"/>
            </a:avLst>
          </a:prstGeom>
          <a:solidFill>
            <a:srgbClr val="15234A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337560" y="1508760"/>
            <a:ext cx="2468880" cy="457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3337560" y="1618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</a:rPr>
              <a:t>Dijkstra (own code)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337560" y="192024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Min-heap, relax edges, parent pointers rebuild routes.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Why: roads have non-negative times, so it is exact and efficient.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Time: O((V+E) log V) per source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1508760"/>
            <a:ext cx="2743200" cy="2834640"/>
          </a:xfrm>
          <a:prstGeom prst="roundRect">
            <a:avLst>
              <a:gd name="adj" fmla="val 2667"/>
            </a:avLst>
          </a:prstGeom>
          <a:solidFill>
            <a:srgbClr val="15234A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172200" y="1508760"/>
            <a:ext cx="2468880" cy="457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172200" y="1618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</a:rPr>
              <a:t>Greedy placement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192024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Each step picks the site with maximum additional uncovered coverage.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Why: optimal placement is NP-hard; greedy gives ≥ (1 − 1/e) ≈ 63% of optimum.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Time: O(k · V²) after Dijkstra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48056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15234A"/>
          </a:solidFill>
          <a:ln w="12700">
            <a:solidFill>
              <a:srgbClr val="4EA8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Total: V Dijkstra runs ≈ O(V(V+E) log V), plus greedy selection. Fast enough for live sliders.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530"/>
                </a:solidFill>
              </a:rPr>
              <a:t>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28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Demo &amp; Impact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15234A"/>
          </a:solidFill>
          <a:ln w="19050">
            <a:solidFill>
              <a:srgbClr val="52B78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C2DD"/>
                </a:solidFill>
              </a:rPr>
              <a:t>📸 Paste app screenshot here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8C2DD"/>
                </a:solidFill>
              </a:rPr>
              <a:t>(map with stations, covered and uncovered areas, green route)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914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</a:rPr>
              <a:t>Sample output: Greedy decision table (illustrative)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34440"/>
          <a:ext cx="4206240" cy="97536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530"/>
                          </a:solidFill>
                        </a:rPr>
                        <a:t>Step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B7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530"/>
                          </a:solidFill>
                        </a:rPr>
                        <a:t>Candidate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B7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530"/>
                          </a:solidFill>
                        </a:rPr>
                        <a:t>New coverage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B7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530"/>
                          </a:solidFill>
                        </a:rPr>
                        <a:t>Decision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B7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🔥 Selected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N14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🔥 Selected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N22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🔥 Selected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0" y="2697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C2DD"/>
                </a:solidFill>
              </a:rPr>
              <a:t>Your live app shows the real computed values for your dataset.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347472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15234A"/>
          </a:solidFill>
          <a:ln w="12700">
            <a:solidFill>
              <a:srgbClr val="4EA8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02920" y="3474720"/>
            <a:ext cx="1737360" cy="45720"/>
          </a:xfrm>
          <a:prstGeom prst="rect">
            <a:avLst/>
          </a:prstGeom>
          <a:solidFill>
            <a:srgbClr val="4EA8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502920" y="3584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A8DE"/>
                </a:solidFill>
              </a:rPr>
              <a:t>Results shown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38862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Coverage %, covered / uncovered, avg and max response time, counts within 5, 8, 10 min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468880" y="347472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15234A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2606040" y="3474720"/>
            <a:ext cx="1737360" cy="457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2606040" y="3584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</a:rPr>
              <a:t>Before vs After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606040" y="38862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Same metrics before and after placement, computed live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0" y="347472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15234A"/>
          </a:solidFill>
          <a:ln w="12700">
            <a:solidFill>
              <a:srgbClr val="A06C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709160" y="3474720"/>
            <a:ext cx="1737360" cy="45720"/>
          </a:xfrm>
          <a:prstGeom prst="rect">
            <a:avLst/>
          </a:prstGeom>
          <a:solidFill>
            <a:srgbClr val="A06CD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 txBox="1"/>
          <p:nvPr/>
        </p:nvSpPr>
        <p:spPr>
          <a:xfrm>
            <a:off x="4709160" y="3584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6CD5"/>
                </a:solidFill>
              </a:rPr>
              <a:t>Performance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709160" y="38862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Runs offline on 25 areas and 40+ roads; sliders update instantly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675120" y="347472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15234A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6812280" y="34747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 txBox="1"/>
          <p:nvPr/>
        </p:nvSpPr>
        <p:spPr>
          <a:xfrm>
            <a:off x="6812280" y="3584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</a:rPr>
              <a:t>Practical benefits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812280" y="38862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Fewer blind spots, evidence-based budgets, explainable choices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06CD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502920" cy="502920"/>
          </a:xfrm>
          <a:prstGeom prst="ellipse">
            <a:avLst/>
          </a:prstGeom>
          <a:solidFill>
            <a:srgbClr val="A06CD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530"/>
                </a:solidFill>
              </a:rPr>
              <a:t>7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28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Future Vision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15234A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2423160" cy="4572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02920" y="1024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</a:rPr>
              <a:t>✅ Current achievement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32588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Working Streamlit prototype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Own Dijkstra + Greedy code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Map, charts, what-if, gaps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CSV upload and error handling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Demo and presentation modes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15234A"/>
          </a:solidFill>
          <a:ln w="12700">
            <a:solidFill>
              <a:srgbClr val="4EA8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337560" y="914400"/>
            <a:ext cx="2423160" cy="45720"/>
          </a:xfrm>
          <a:prstGeom prst="rect">
            <a:avLst/>
          </a:prstGeom>
          <a:solidFill>
            <a:srgbClr val="4EA8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337560" y="1024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A8DE"/>
                </a:solidFill>
              </a:rPr>
              <a:t>🚀 Future improvements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337560" y="132588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Real OpenStreetMap roads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Traffic by time of day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Station capacity and budget limits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Compare with exact ILP result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2743200" cy="2468880"/>
          </a:xfrm>
          <a:prstGeom prst="roundRect">
            <a:avLst>
              <a:gd name="adj" fmla="val 2963"/>
            </a:avLst>
          </a:prstGeom>
          <a:solidFill>
            <a:srgbClr val="15234A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172200" y="914400"/>
            <a:ext cx="2468880" cy="457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17220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</a:rPr>
              <a:t>📈 Scalability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3258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Heap-based Dijkstra scales to large graphs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Cache shortest paths between runs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Extend to ambulance and police sites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• Plan whole regions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6616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548640" y="3566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Takeaway: Graph + Dijkstra + Greedy turns fire-station placement into a clear, measurable, explainable decision.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703"/>
                </a:solidFill>
              </a:rPr>
              <a:t>🙏 Thank You  |  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975</Words>
  <Application>Microsoft Office PowerPoint</Application>
  <PresentationFormat>On-screen Show (16:9)</PresentationFormat>
  <Paragraphs>168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Century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FIREOPT Hackathon</dc:title>
  <dc:subject>PptxGenJS Presentation</dc:subject>
  <dc:creator>PptxGenJS</dc:creator>
  <cp:lastModifiedBy>pariki akshara</cp:lastModifiedBy>
  <cp:revision>2</cp:revision>
  <dcterms:created xsi:type="dcterms:W3CDTF">2026-10-03T06:24:29Z</dcterms:created>
  <dcterms:modified xsi:type="dcterms:W3CDTF">2026-10-03T08:59:48Z</dcterms:modified>
</cp:coreProperties>
</file>